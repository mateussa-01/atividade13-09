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Open Sans Bold" panose="020B0806030504020204" pitchFamily="34" charset="0"/>
      <p:regular r:id="rId11"/>
      <p:bold r:id="rId12"/>
    </p:embeddedFont>
    <p:embeddedFont>
      <p:font typeface="Arial Bold" panose="020B0604020202020204" charset="0"/>
      <p:regular r:id="rId13"/>
    </p:embeddedFont>
    <p:embeddedFont>
      <p:font typeface="HK Grotesk Bold" panose="020B0604020202020204" charset="0"/>
      <p:regular r:id="rId14"/>
    </p:embeddedFont>
    <p:embeddedFont>
      <p:font typeface="HK Grotesk Light" panose="020B0604020202020204" charset="0"/>
      <p:regular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259" autoAdjust="0"/>
  </p:normalViewPr>
  <p:slideViewPr>
    <p:cSldViewPr>
      <p:cViewPr varScale="1">
        <p:scale>
          <a:sx n="44" d="100"/>
          <a:sy n="44" d="100"/>
        </p:scale>
        <p:origin x="67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6.jpeg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14912">
            <a:off x="-1534103" y="1801518"/>
            <a:ext cx="21356206" cy="6874465"/>
          </a:xfrm>
          <a:custGeom>
            <a:avLst/>
            <a:gdLst/>
            <a:ahLst/>
            <a:cxnLst/>
            <a:rect l="l" t="t" r="r" b="b"/>
            <a:pathLst>
              <a:path w="21356206" h="6874465">
                <a:moveTo>
                  <a:pt x="0" y="0"/>
                </a:moveTo>
                <a:lnTo>
                  <a:pt x="21356206" y="0"/>
                </a:lnTo>
                <a:lnTo>
                  <a:pt x="21356206" y="6874464"/>
                </a:lnTo>
                <a:lnTo>
                  <a:pt x="0" y="6874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0316071" cy="3311942"/>
            <a:chOff x="0" y="0"/>
            <a:chExt cx="13754762" cy="4415922"/>
          </a:xfrm>
        </p:grpSpPr>
        <p:sp>
          <p:nvSpPr>
            <p:cNvPr id="4" name="TextBox 4"/>
            <p:cNvSpPr txBox="1"/>
            <p:nvPr/>
          </p:nvSpPr>
          <p:spPr>
            <a:xfrm>
              <a:off x="0" y="104775"/>
              <a:ext cx="13754762" cy="2515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40"/>
                </a:lnSpc>
              </a:pPr>
              <a:r>
                <a:rPr lang="en-US" sz="12919" b="1" spc="-387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Controle EPi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208805"/>
              <a:ext cx="7714532" cy="12071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51"/>
                </a:lnSpc>
              </a:pPr>
              <a:r>
                <a:rPr lang="en-US" sz="3199">
                  <a:solidFill>
                    <a:srgbClr val="57FFDC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GUILHERME A,RYAN, MATHEUS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30652" y="7061766"/>
            <a:ext cx="1928648" cy="2074442"/>
            <a:chOff x="0" y="0"/>
            <a:chExt cx="2571531" cy="2765923"/>
          </a:xfrm>
        </p:grpSpPr>
        <p:sp>
          <p:nvSpPr>
            <p:cNvPr id="7" name="AutoShape 7"/>
            <p:cNvSpPr/>
            <p:nvPr/>
          </p:nvSpPr>
          <p:spPr>
            <a:xfrm>
              <a:off x="2508031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310295"/>
              <a:ext cx="2571531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84960" y="7183858"/>
            <a:ext cx="47625" cy="1325731"/>
          </a:xfrm>
          <a:prstGeom prst="rect">
            <a:avLst/>
          </a:prstGeom>
          <a:solidFill>
            <a:srgbClr val="57FFDC"/>
          </a:solidFill>
        </p:spPr>
      </p:sp>
      <p:sp>
        <p:nvSpPr>
          <p:cNvPr id="3" name="Freeform 3"/>
          <p:cNvSpPr/>
          <p:nvPr/>
        </p:nvSpPr>
        <p:spPr>
          <a:xfrm rot="-792178">
            <a:off x="-3184334" y="-1644671"/>
            <a:ext cx="11135343" cy="3391383"/>
          </a:xfrm>
          <a:custGeom>
            <a:avLst/>
            <a:gdLst/>
            <a:ahLst/>
            <a:cxnLst/>
            <a:rect l="l" t="t" r="r" b="b"/>
            <a:pathLst>
              <a:path w="11135343" h="3391383">
                <a:moveTo>
                  <a:pt x="0" y="0"/>
                </a:moveTo>
                <a:lnTo>
                  <a:pt x="11135343" y="0"/>
                </a:lnTo>
                <a:lnTo>
                  <a:pt x="11135343" y="3391383"/>
                </a:lnTo>
                <a:lnTo>
                  <a:pt x="0" y="3391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8138756" y="1800225"/>
            <a:ext cx="52381" cy="8229600"/>
          </a:xfrm>
          <a:prstGeom prst="rect">
            <a:avLst/>
          </a:prstGeom>
          <a:solidFill>
            <a:srgbClr val="57FFDC"/>
          </a:solidFill>
        </p:spPr>
      </p:sp>
      <p:sp>
        <p:nvSpPr>
          <p:cNvPr id="5" name="TextBox 5"/>
          <p:cNvSpPr txBox="1"/>
          <p:nvPr/>
        </p:nvSpPr>
        <p:spPr>
          <a:xfrm>
            <a:off x="1116571" y="4334218"/>
            <a:ext cx="5910916" cy="1143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999" b="1" spc="-2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Introdução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2339199"/>
            <a:ext cx="8115300" cy="696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875" lvl="1" indent="-232438" algn="l">
              <a:lnSpc>
                <a:spcPts val="2799"/>
              </a:lnSpc>
              <a:buFont typeface="Arial"/>
              <a:buChar char="•"/>
            </a:pPr>
            <a:r>
              <a:rPr lang="en-US" sz="2153" spc="-43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O sistema tem como objetivo gerenciar o empréstimo de EPIs.</a:t>
            </a:r>
          </a:p>
          <a:p>
            <a:pPr algn="l">
              <a:lnSpc>
                <a:spcPts val="2799"/>
              </a:lnSpc>
            </a:pPr>
            <a:endParaRPr lang="en-US" sz="2153" spc="-43">
              <a:solidFill>
                <a:srgbClr val="FFFFFF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0" y="4291772"/>
            <a:ext cx="8115300" cy="34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875" lvl="1" indent="-232438" algn="l">
              <a:lnSpc>
                <a:spcPts val="2799"/>
              </a:lnSpc>
              <a:buFont typeface="Arial"/>
              <a:buChar char="•"/>
            </a:pPr>
            <a:r>
              <a:rPr lang="en-US" sz="2153" spc="-43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Cadastro de colaboradores e equipamentos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6068132"/>
            <a:ext cx="8115300" cy="34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875" lvl="1" indent="-232438" algn="l">
              <a:lnSpc>
                <a:spcPts val="2799"/>
              </a:lnSpc>
              <a:buFont typeface="Arial"/>
              <a:buChar char="•"/>
            </a:pPr>
            <a:r>
              <a:rPr lang="en-US" sz="2153" spc="-43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Registro de empréstimos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7844492"/>
            <a:ext cx="8115300" cy="34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875" lvl="1" indent="-232438" algn="l">
              <a:lnSpc>
                <a:spcPts val="2799"/>
              </a:lnSpc>
              <a:buFont typeface="Arial"/>
              <a:buChar char="•"/>
            </a:pPr>
            <a:r>
              <a:rPr lang="en-US" sz="2153" spc="-43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Controle de devoluções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9620853"/>
            <a:ext cx="8115300" cy="34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4875" lvl="1" indent="-232438" algn="l">
              <a:lnSpc>
                <a:spcPts val="2799"/>
              </a:lnSpc>
              <a:buFont typeface="Arial"/>
              <a:buChar char="•"/>
            </a:pPr>
            <a:r>
              <a:rPr lang="en-US" sz="2153" spc="-43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Emissão de relatórios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4960" y="8921341"/>
            <a:ext cx="616957" cy="3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35275" y="9130787"/>
            <a:ext cx="4133850" cy="3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CONTROLE EPI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7979987" y="2177345"/>
            <a:ext cx="369918" cy="369918"/>
            <a:chOff x="6705600" y="1371600"/>
            <a:chExt cx="10972800" cy="10972800"/>
          </a:xfrm>
        </p:grpSpPr>
        <p:sp>
          <p:nvSpPr>
            <p:cNvPr id="14" name="Freeform 14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7979987" y="3953705"/>
            <a:ext cx="369918" cy="369918"/>
            <a:chOff x="6705600" y="1371600"/>
            <a:chExt cx="10972800" cy="10972800"/>
          </a:xfrm>
        </p:grpSpPr>
        <p:sp>
          <p:nvSpPr>
            <p:cNvPr id="16" name="Freeform 16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7979987" y="5730066"/>
            <a:ext cx="369918" cy="369918"/>
            <a:chOff x="6705600" y="1371600"/>
            <a:chExt cx="10972800" cy="10972800"/>
          </a:xfrm>
        </p:grpSpPr>
        <p:sp>
          <p:nvSpPr>
            <p:cNvPr id="18" name="Freeform 18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7979987" y="7506426"/>
            <a:ext cx="369918" cy="369918"/>
            <a:chOff x="6705600" y="1371600"/>
            <a:chExt cx="10972800" cy="10972800"/>
          </a:xfrm>
        </p:grpSpPr>
        <p:sp>
          <p:nvSpPr>
            <p:cNvPr id="20" name="Freeform 20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7979987" y="9282787"/>
            <a:ext cx="369918" cy="369918"/>
            <a:chOff x="6705600" y="1371600"/>
            <a:chExt cx="10972800" cy="10972800"/>
          </a:xfrm>
        </p:grpSpPr>
        <p:sp>
          <p:nvSpPr>
            <p:cNvPr id="22" name="Freeform 22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3" name="TextBox 23"/>
          <p:cNvSpPr txBox="1"/>
          <p:nvPr/>
        </p:nvSpPr>
        <p:spPr>
          <a:xfrm>
            <a:off x="10648504" y="296863"/>
            <a:ext cx="3920133" cy="1111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57431">
            <a:off x="4959970" y="3631232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1" y="0"/>
                </a:lnTo>
                <a:lnTo>
                  <a:pt x="17016201" y="6180151"/>
                </a:lnTo>
                <a:lnTo>
                  <a:pt x="0" y="6180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0" y="1095375"/>
            <a:ext cx="4721692" cy="226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79"/>
              </a:lnSpc>
            </a:pPr>
            <a:r>
              <a:rPr lang="en-US" sz="7999" b="1" spc="-2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Requisitos Funcionais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798767" y="8921341"/>
            <a:ext cx="4133850" cy="3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3"/>
              </a:lnSpc>
            </a:pPr>
            <a:r>
              <a:rPr lang="en-US" sz="2399" b="1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CONTROLE EPI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86451" y="1339296"/>
            <a:ext cx="5686074" cy="142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244" lvl="1" indent="-315122" algn="l">
              <a:lnSpc>
                <a:spcPts val="3794"/>
              </a:lnSpc>
              <a:buFont typeface="Arial"/>
              <a:buChar char="•"/>
            </a:pPr>
            <a:r>
              <a:rPr lang="en-US" sz="2919" spc="-58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Tela de relatórios com filtros (colaborador, equipamento, status)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6632818" y="7193383"/>
            <a:ext cx="616957" cy="2074442"/>
            <a:chOff x="0" y="0"/>
            <a:chExt cx="822610" cy="2765923"/>
          </a:xfrm>
        </p:grpSpPr>
        <p:sp>
          <p:nvSpPr>
            <p:cNvPr id="7" name="AutoShape 7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310295"/>
              <a:ext cx="822610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04</a:t>
              </a:r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035354" y="1028700"/>
            <a:ext cx="1770940" cy="1770940"/>
            <a:chOff x="6705600" y="1371600"/>
            <a:chExt cx="10972800" cy="10972800"/>
          </a:xfrm>
        </p:grpSpPr>
        <p:sp>
          <p:nvSpPr>
            <p:cNvPr id="10" name="Freeform 10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3086451" y="3818893"/>
            <a:ext cx="3857572" cy="46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244" lvl="1" indent="-315122" algn="l">
              <a:lnSpc>
                <a:spcPts val="3794"/>
              </a:lnSpc>
              <a:buFont typeface="Arial"/>
              <a:buChar char="•"/>
            </a:pPr>
            <a:r>
              <a:rPr lang="en-US" sz="2919" spc="-58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Filtro do tipo AND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35354" y="3181587"/>
            <a:ext cx="1770940" cy="1770940"/>
            <a:chOff x="6705600" y="1371600"/>
            <a:chExt cx="10972800" cy="10972800"/>
          </a:xfrm>
        </p:grpSpPr>
        <p:sp>
          <p:nvSpPr>
            <p:cNvPr id="13" name="Freeform 13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3086451" y="5971780"/>
            <a:ext cx="3857572" cy="46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244" lvl="1" indent="-315122" algn="l">
              <a:lnSpc>
                <a:spcPts val="3794"/>
              </a:lnSpc>
              <a:buFont typeface="Arial"/>
              <a:buChar char="•"/>
            </a:pPr>
            <a:r>
              <a:rPr lang="en-US" sz="2919" spc="-58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Atualização de status</a:t>
            </a:r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035354" y="5334473"/>
            <a:ext cx="1770940" cy="1770940"/>
            <a:chOff x="6705600" y="1371600"/>
            <a:chExt cx="10972800" cy="10972800"/>
          </a:xfrm>
        </p:grpSpPr>
        <p:sp>
          <p:nvSpPr>
            <p:cNvPr id="16" name="Freeform 16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</p:sp>
      </p:grpSp>
      <p:sp>
        <p:nvSpPr>
          <p:cNvPr id="17" name="TextBox 17"/>
          <p:cNvSpPr txBox="1"/>
          <p:nvPr/>
        </p:nvSpPr>
        <p:spPr>
          <a:xfrm>
            <a:off x="3086451" y="8192504"/>
            <a:ext cx="5086297" cy="1896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244" lvl="1" indent="-315122" algn="l">
              <a:lnSpc>
                <a:spcPts val="3794"/>
              </a:lnSpc>
              <a:buFont typeface="Arial"/>
              <a:buChar char="•"/>
            </a:pPr>
            <a:r>
              <a:rPr lang="en-US" sz="2919" spc="-58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Restrições: não alterar colaborador, equipamento, datas.</a:t>
            </a:r>
          </a:p>
          <a:p>
            <a:pPr algn="l">
              <a:lnSpc>
                <a:spcPts val="3794"/>
              </a:lnSpc>
            </a:pPr>
            <a:endParaRPr lang="en-US" sz="2919" spc="-58">
              <a:solidFill>
                <a:srgbClr val="FFFFFF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</p:txBody>
      </p: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35354" y="7487360"/>
            <a:ext cx="1770940" cy="1770940"/>
            <a:chOff x="6705600" y="1371600"/>
            <a:chExt cx="10972800" cy="10972800"/>
          </a:xfrm>
        </p:grpSpPr>
        <p:sp>
          <p:nvSpPr>
            <p:cNvPr id="19" name="Freeform 19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</p:sp>
      </p:grpSp>
      <p:sp>
        <p:nvSpPr>
          <p:cNvPr id="20" name="Freeform 20"/>
          <p:cNvSpPr/>
          <p:nvPr/>
        </p:nvSpPr>
        <p:spPr>
          <a:xfrm>
            <a:off x="1082411" y="1075757"/>
            <a:ext cx="1676826" cy="1676826"/>
          </a:xfrm>
          <a:custGeom>
            <a:avLst/>
            <a:gdLst/>
            <a:ahLst/>
            <a:cxnLst/>
            <a:rect l="l" t="t" r="r" b="b"/>
            <a:pathLst>
              <a:path w="1676826" h="1676826">
                <a:moveTo>
                  <a:pt x="0" y="0"/>
                </a:moveTo>
                <a:lnTo>
                  <a:pt x="1676826" y="0"/>
                </a:lnTo>
                <a:lnTo>
                  <a:pt x="1676826" y="1676826"/>
                </a:lnTo>
                <a:lnTo>
                  <a:pt x="0" y="1676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45574" y="7497580"/>
            <a:ext cx="1750499" cy="1750499"/>
          </a:xfrm>
          <a:custGeom>
            <a:avLst/>
            <a:gdLst/>
            <a:ahLst/>
            <a:cxnLst/>
            <a:rect l="l" t="t" r="r" b="b"/>
            <a:pathLst>
              <a:path w="1750499" h="1750499">
                <a:moveTo>
                  <a:pt x="0" y="0"/>
                </a:moveTo>
                <a:lnTo>
                  <a:pt x="1750500" y="0"/>
                </a:lnTo>
                <a:lnTo>
                  <a:pt x="1750500" y="1750500"/>
                </a:lnTo>
                <a:lnTo>
                  <a:pt x="0" y="1750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82411" y="3228644"/>
            <a:ext cx="1676826" cy="1676826"/>
          </a:xfrm>
          <a:custGeom>
            <a:avLst/>
            <a:gdLst/>
            <a:ahLst/>
            <a:cxnLst/>
            <a:rect l="l" t="t" r="r" b="b"/>
            <a:pathLst>
              <a:path w="1676826" h="1676826">
                <a:moveTo>
                  <a:pt x="0" y="0"/>
                </a:moveTo>
                <a:lnTo>
                  <a:pt x="1676826" y="0"/>
                </a:lnTo>
                <a:lnTo>
                  <a:pt x="1676826" y="1676826"/>
                </a:lnTo>
                <a:lnTo>
                  <a:pt x="0" y="1676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97663" y="5396782"/>
            <a:ext cx="1646322" cy="1646322"/>
          </a:xfrm>
          <a:custGeom>
            <a:avLst/>
            <a:gdLst/>
            <a:ahLst/>
            <a:cxnLst/>
            <a:rect l="l" t="t" r="r" b="b"/>
            <a:pathLst>
              <a:path w="1646322" h="1646322">
                <a:moveTo>
                  <a:pt x="0" y="0"/>
                </a:moveTo>
                <a:lnTo>
                  <a:pt x="1646322" y="0"/>
                </a:lnTo>
                <a:lnTo>
                  <a:pt x="1646322" y="1646322"/>
                </a:lnTo>
                <a:lnTo>
                  <a:pt x="0" y="1646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57431">
            <a:off x="4959970" y="3631232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1" y="0"/>
                </a:lnTo>
                <a:lnTo>
                  <a:pt x="17016201" y="6180151"/>
                </a:lnTo>
                <a:lnTo>
                  <a:pt x="0" y="6180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1798767" y="8921341"/>
            <a:ext cx="4133850" cy="3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3"/>
              </a:lnSpc>
            </a:pPr>
            <a:r>
              <a:rPr lang="en-US" sz="2399" b="1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CONTROLE EPI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86451" y="1637131"/>
            <a:ext cx="5686074" cy="94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244" lvl="1" indent="-315122" algn="l">
              <a:lnSpc>
                <a:spcPts val="3794"/>
              </a:lnSpc>
              <a:buFont typeface="Arial"/>
              <a:buChar char="•"/>
            </a:pPr>
            <a:r>
              <a:rPr lang="en-US" sz="2919" spc="-58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Banco de dados MySQL</a:t>
            </a:r>
          </a:p>
          <a:p>
            <a:pPr algn="l">
              <a:lnSpc>
                <a:spcPts val="3794"/>
              </a:lnSpc>
            </a:pPr>
            <a:endParaRPr lang="en-US" sz="2919" spc="-58">
              <a:solidFill>
                <a:srgbClr val="FFFFFF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6642343" y="7183858"/>
            <a:ext cx="616957" cy="2074442"/>
            <a:chOff x="0" y="0"/>
            <a:chExt cx="822610" cy="2765923"/>
          </a:xfrm>
        </p:grpSpPr>
        <p:sp>
          <p:nvSpPr>
            <p:cNvPr id="6" name="AutoShape 6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310295"/>
              <a:ext cx="822610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05</a:t>
              </a: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35354" y="1028700"/>
            <a:ext cx="1770940" cy="1770940"/>
            <a:chOff x="6705600" y="1371600"/>
            <a:chExt cx="10972800" cy="10972800"/>
          </a:xfrm>
        </p:grpSpPr>
        <p:sp>
          <p:nvSpPr>
            <p:cNvPr id="9" name="Freeform 9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3086451" y="3800357"/>
            <a:ext cx="3857572" cy="94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244" lvl="1" indent="-315122" algn="l">
              <a:lnSpc>
                <a:spcPts val="3794"/>
              </a:lnSpc>
              <a:buFont typeface="Arial"/>
              <a:buChar char="•"/>
            </a:pPr>
            <a:r>
              <a:rPr lang="en-US" sz="2919" spc="-58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Interface web responsiva</a:t>
            </a: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035354" y="3181587"/>
            <a:ext cx="1770940" cy="1770940"/>
            <a:chOff x="6705600" y="1371600"/>
            <a:chExt cx="10972800" cy="10972800"/>
          </a:xfrm>
        </p:grpSpPr>
        <p:sp>
          <p:nvSpPr>
            <p:cNvPr id="12" name="Freeform 12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3086451" y="5685162"/>
            <a:ext cx="3857572" cy="142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244" lvl="1" indent="-315122" algn="l">
              <a:lnSpc>
                <a:spcPts val="3794"/>
              </a:lnSpc>
              <a:buFont typeface="Arial"/>
              <a:buChar char="•"/>
            </a:pPr>
            <a:r>
              <a:rPr lang="en-US" sz="2919" spc="-58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Acesso apenas para usuários autenticados</a:t>
            </a:r>
          </a:p>
        </p:txBody>
      </p: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035354" y="5334473"/>
            <a:ext cx="1770940" cy="1770940"/>
            <a:chOff x="6705600" y="1371600"/>
            <a:chExt cx="10972800" cy="10972800"/>
          </a:xfrm>
        </p:grpSpPr>
        <p:sp>
          <p:nvSpPr>
            <p:cNvPr id="15" name="Freeform 15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57FFDC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3086451" y="7973057"/>
            <a:ext cx="5086297" cy="1420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0244" lvl="1" indent="-315122" algn="l">
              <a:lnSpc>
                <a:spcPts val="3794"/>
              </a:lnSpc>
              <a:buFont typeface="Arial"/>
              <a:buChar char="•"/>
            </a:pPr>
            <a:r>
              <a:rPr lang="en-US" sz="2919" spc="-58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Bom desempenho em consultas e relatórios</a:t>
            </a:r>
          </a:p>
          <a:p>
            <a:pPr algn="l">
              <a:lnSpc>
                <a:spcPts val="3794"/>
              </a:lnSpc>
            </a:pPr>
            <a:endParaRPr lang="en-US" sz="2919" spc="-58">
              <a:solidFill>
                <a:srgbClr val="FFFFFF"/>
              </a:solidFill>
              <a:latin typeface="HK Grotesk Light"/>
              <a:ea typeface="HK Grotesk Light"/>
              <a:cs typeface="HK Grotesk Light"/>
              <a:sym typeface="HK Grotesk Light"/>
            </a:endParaRP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1035354" y="7487360"/>
            <a:ext cx="1770940" cy="1770940"/>
            <a:chOff x="6705600" y="1371600"/>
            <a:chExt cx="10972800" cy="10972800"/>
          </a:xfrm>
        </p:grpSpPr>
        <p:sp>
          <p:nvSpPr>
            <p:cNvPr id="18" name="Freeform 18"/>
            <p:cNvSpPr/>
            <p:nvPr/>
          </p:nvSpPr>
          <p:spPr>
            <a:xfrm>
              <a:off x="6696808" y="1100629"/>
              <a:ext cx="10990383" cy="11514742"/>
            </a:xfrm>
            <a:custGeom>
              <a:avLst/>
              <a:gdLst/>
              <a:ahLst/>
              <a:cxnLst/>
              <a:rect l="l" t="t" r="r" b="b"/>
              <a:pathLst>
                <a:path w="10990383" h="11514742">
                  <a:moveTo>
                    <a:pt x="8792" y="5757371"/>
                  </a:moveTo>
                  <a:cubicBezTo>
                    <a:pt x="0" y="7723318"/>
                    <a:pt x="1043775" y="9543701"/>
                    <a:pt x="2744885" y="10529222"/>
                  </a:cubicBezTo>
                  <a:cubicBezTo>
                    <a:pt x="4445995" y="11514742"/>
                    <a:pt x="6544390" y="11514742"/>
                    <a:pt x="8245500" y="10529222"/>
                  </a:cubicBezTo>
                  <a:cubicBezTo>
                    <a:pt x="9946609" y="9543701"/>
                    <a:pt x="10990384" y="7723318"/>
                    <a:pt x="10981592" y="5757371"/>
                  </a:cubicBezTo>
                  <a:cubicBezTo>
                    <a:pt x="10990384" y="3791424"/>
                    <a:pt x="9946609" y="1971041"/>
                    <a:pt x="8245500" y="985520"/>
                  </a:cubicBezTo>
                  <a:cubicBezTo>
                    <a:pt x="6544390" y="0"/>
                    <a:pt x="4445995" y="0"/>
                    <a:pt x="2744885" y="985520"/>
                  </a:cubicBezTo>
                  <a:cubicBezTo>
                    <a:pt x="1043775" y="1971041"/>
                    <a:pt x="0" y="3791424"/>
                    <a:pt x="8792" y="5757371"/>
                  </a:cubicBezTo>
                  <a:close/>
                </a:path>
              </a:pathLst>
            </a:custGeom>
            <a:solidFill>
              <a:srgbClr val="0097EE"/>
            </a:solidFill>
          </p:spPr>
        </p:sp>
      </p:grpSp>
      <p:sp>
        <p:nvSpPr>
          <p:cNvPr id="19" name="Freeform 19"/>
          <p:cNvSpPr/>
          <p:nvPr/>
        </p:nvSpPr>
        <p:spPr>
          <a:xfrm>
            <a:off x="1082411" y="1075757"/>
            <a:ext cx="1676826" cy="1676826"/>
          </a:xfrm>
          <a:custGeom>
            <a:avLst/>
            <a:gdLst/>
            <a:ahLst/>
            <a:cxnLst/>
            <a:rect l="l" t="t" r="r" b="b"/>
            <a:pathLst>
              <a:path w="1676826" h="1676826">
                <a:moveTo>
                  <a:pt x="0" y="0"/>
                </a:moveTo>
                <a:lnTo>
                  <a:pt x="1676826" y="0"/>
                </a:lnTo>
                <a:lnTo>
                  <a:pt x="1676826" y="1676826"/>
                </a:lnTo>
                <a:lnTo>
                  <a:pt x="0" y="1676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45574" y="7497580"/>
            <a:ext cx="1750499" cy="1750499"/>
          </a:xfrm>
          <a:custGeom>
            <a:avLst/>
            <a:gdLst/>
            <a:ahLst/>
            <a:cxnLst/>
            <a:rect l="l" t="t" r="r" b="b"/>
            <a:pathLst>
              <a:path w="1750499" h="1750499">
                <a:moveTo>
                  <a:pt x="0" y="0"/>
                </a:moveTo>
                <a:lnTo>
                  <a:pt x="1750500" y="0"/>
                </a:lnTo>
                <a:lnTo>
                  <a:pt x="1750500" y="1750500"/>
                </a:lnTo>
                <a:lnTo>
                  <a:pt x="0" y="1750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82411" y="3228644"/>
            <a:ext cx="1676826" cy="1676826"/>
          </a:xfrm>
          <a:custGeom>
            <a:avLst/>
            <a:gdLst/>
            <a:ahLst/>
            <a:cxnLst/>
            <a:rect l="l" t="t" r="r" b="b"/>
            <a:pathLst>
              <a:path w="1676826" h="1676826">
                <a:moveTo>
                  <a:pt x="0" y="0"/>
                </a:moveTo>
                <a:lnTo>
                  <a:pt x="1676826" y="0"/>
                </a:lnTo>
                <a:lnTo>
                  <a:pt x="1676826" y="1676826"/>
                </a:lnTo>
                <a:lnTo>
                  <a:pt x="0" y="16768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97663" y="5396782"/>
            <a:ext cx="1646322" cy="1646322"/>
          </a:xfrm>
          <a:custGeom>
            <a:avLst/>
            <a:gdLst/>
            <a:ahLst/>
            <a:cxnLst/>
            <a:rect l="l" t="t" r="r" b="b"/>
            <a:pathLst>
              <a:path w="1646322" h="1646322">
                <a:moveTo>
                  <a:pt x="0" y="0"/>
                </a:moveTo>
                <a:lnTo>
                  <a:pt x="1646322" y="0"/>
                </a:lnTo>
                <a:lnTo>
                  <a:pt x="1646322" y="1646322"/>
                </a:lnTo>
                <a:lnTo>
                  <a:pt x="0" y="1646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297984" y="257476"/>
            <a:ext cx="5314057" cy="402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2"/>
              </a:lnSpc>
            </a:pPr>
            <a:r>
              <a:rPr lang="en-US" sz="766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</a:t>
            </a:r>
          </a:p>
          <a:p>
            <a:pPr algn="ctr">
              <a:lnSpc>
                <a:spcPts val="10732"/>
              </a:lnSpc>
            </a:pPr>
            <a:r>
              <a:rPr lang="en-US" sz="766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não </a:t>
            </a:r>
          </a:p>
          <a:p>
            <a:pPr algn="ctr">
              <a:lnSpc>
                <a:spcPts val="10732"/>
              </a:lnSpc>
            </a:pPr>
            <a:r>
              <a:rPr lang="en-US" sz="7665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464736" y="8053168"/>
            <a:ext cx="616957" cy="2074442"/>
            <a:chOff x="0" y="0"/>
            <a:chExt cx="822610" cy="2765923"/>
          </a:xfrm>
        </p:grpSpPr>
        <p:sp>
          <p:nvSpPr>
            <p:cNvPr id="3" name="AutoShape 3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2310295"/>
              <a:ext cx="822610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07</a:t>
              </a:r>
            </a:p>
          </p:txBody>
        </p:sp>
      </p:grpSp>
      <p:sp>
        <p:nvSpPr>
          <p:cNvPr id="5" name="Freeform 5"/>
          <p:cNvSpPr/>
          <p:nvPr/>
        </p:nvSpPr>
        <p:spPr>
          <a:xfrm rot="-2279539">
            <a:off x="6619733" y="6569966"/>
            <a:ext cx="14698520" cy="4731386"/>
          </a:xfrm>
          <a:custGeom>
            <a:avLst/>
            <a:gdLst/>
            <a:ahLst/>
            <a:cxnLst/>
            <a:rect l="l" t="t" r="r" b="b"/>
            <a:pathLst>
              <a:path w="14698520" h="4731386">
                <a:moveTo>
                  <a:pt x="0" y="0"/>
                </a:moveTo>
                <a:lnTo>
                  <a:pt x="14698520" y="0"/>
                </a:lnTo>
                <a:lnTo>
                  <a:pt x="14698520" y="4731386"/>
                </a:lnTo>
                <a:lnTo>
                  <a:pt x="0" y="4731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5552374"/>
            <a:ext cx="9018335" cy="4734626"/>
          </a:xfrm>
          <a:custGeom>
            <a:avLst/>
            <a:gdLst/>
            <a:ahLst/>
            <a:cxnLst/>
            <a:rect l="l" t="t" r="r" b="b"/>
            <a:pathLst>
              <a:path w="9018335" h="4734626">
                <a:moveTo>
                  <a:pt x="0" y="0"/>
                </a:moveTo>
                <a:lnTo>
                  <a:pt x="9018335" y="0"/>
                </a:lnTo>
                <a:lnTo>
                  <a:pt x="9018335" y="4734626"/>
                </a:lnTo>
                <a:lnTo>
                  <a:pt x="0" y="4734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771340" y="308941"/>
            <a:ext cx="9516660" cy="5008143"/>
          </a:xfrm>
          <a:custGeom>
            <a:avLst/>
            <a:gdLst/>
            <a:ahLst/>
            <a:cxnLst/>
            <a:rect l="l" t="t" r="r" b="b"/>
            <a:pathLst>
              <a:path w="9516660" h="5008143">
                <a:moveTo>
                  <a:pt x="0" y="0"/>
                </a:moveTo>
                <a:lnTo>
                  <a:pt x="9516660" y="0"/>
                </a:lnTo>
                <a:lnTo>
                  <a:pt x="9516660" y="5008143"/>
                </a:lnTo>
                <a:lnTo>
                  <a:pt x="0" y="50081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28575" y="509397"/>
            <a:ext cx="5271343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355953">
            <a:off x="7496539" y="6794101"/>
            <a:ext cx="14698520" cy="4731386"/>
          </a:xfrm>
          <a:custGeom>
            <a:avLst/>
            <a:gdLst/>
            <a:ahLst/>
            <a:cxnLst/>
            <a:rect l="l" t="t" r="r" b="b"/>
            <a:pathLst>
              <a:path w="14698520" h="4731386">
                <a:moveTo>
                  <a:pt x="0" y="0"/>
                </a:moveTo>
                <a:lnTo>
                  <a:pt x="14698520" y="0"/>
                </a:lnTo>
                <a:lnTo>
                  <a:pt x="14698520" y="4731387"/>
                </a:lnTo>
                <a:lnTo>
                  <a:pt x="0" y="4731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671043" y="8122574"/>
            <a:ext cx="616957" cy="2074442"/>
            <a:chOff x="0" y="0"/>
            <a:chExt cx="822610" cy="2765923"/>
          </a:xfrm>
        </p:grpSpPr>
        <p:sp>
          <p:nvSpPr>
            <p:cNvPr id="4" name="AutoShape 4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310295"/>
              <a:ext cx="822610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09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402718" y="2676740"/>
            <a:ext cx="8088158" cy="3801434"/>
          </a:xfrm>
          <a:custGeom>
            <a:avLst/>
            <a:gdLst/>
            <a:ahLst/>
            <a:cxnLst/>
            <a:rect l="l" t="t" r="r" b="b"/>
            <a:pathLst>
              <a:path w="8088158" h="3801434">
                <a:moveTo>
                  <a:pt x="0" y="0"/>
                </a:moveTo>
                <a:lnTo>
                  <a:pt x="8088157" y="0"/>
                </a:lnTo>
                <a:lnTo>
                  <a:pt x="8088157" y="3801434"/>
                </a:lnTo>
                <a:lnTo>
                  <a:pt x="0" y="3801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144000" y="4326463"/>
            <a:ext cx="9025378" cy="4264491"/>
          </a:xfrm>
          <a:custGeom>
            <a:avLst/>
            <a:gdLst/>
            <a:ahLst/>
            <a:cxnLst/>
            <a:rect l="l" t="t" r="r" b="b"/>
            <a:pathLst>
              <a:path w="9025378" h="4264491">
                <a:moveTo>
                  <a:pt x="0" y="0"/>
                </a:moveTo>
                <a:lnTo>
                  <a:pt x="9025378" y="0"/>
                </a:lnTo>
                <a:lnTo>
                  <a:pt x="9025378" y="4264491"/>
                </a:lnTo>
                <a:lnTo>
                  <a:pt x="0" y="4264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2946" y="9277350"/>
            <a:ext cx="4133850" cy="3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CONTROLE EPI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2946" y="159703"/>
            <a:ext cx="5482382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 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211675" y="7183858"/>
            <a:ext cx="47625" cy="1325731"/>
          </a:xfrm>
          <a:prstGeom prst="rect">
            <a:avLst/>
          </a:prstGeom>
          <a:solidFill>
            <a:srgbClr val="57FFDC"/>
          </a:solidFill>
        </p:spPr>
      </p:sp>
      <p:sp>
        <p:nvSpPr>
          <p:cNvPr id="3" name="Freeform 3"/>
          <p:cNvSpPr/>
          <p:nvPr/>
        </p:nvSpPr>
        <p:spPr>
          <a:xfrm rot="1461512" flipV="1">
            <a:off x="8601563" y="92778"/>
            <a:ext cx="14662108" cy="4465495"/>
          </a:xfrm>
          <a:custGeom>
            <a:avLst/>
            <a:gdLst/>
            <a:ahLst/>
            <a:cxnLst/>
            <a:rect l="l" t="t" r="r" b="b"/>
            <a:pathLst>
              <a:path w="14662108" h="4465495">
                <a:moveTo>
                  <a:pt x="0" y="4465495"/>
                </a:moveTo>
                <a:lnTo>
                  <a:pt x="14662108" y="4465495"/>
                </a:lnTo>
                <a:lnTo>
                  <a:pt x="14662108" y="0"/>
                </a:lnTo>
                <a:lnTo>
                  <a:pt x="0" y="0"/>
                </a:lnTo>
                <a:lnTo>
                  <a:pt x="0" y="446549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69006" y="2672768"/>
            <a:ext cx="5674397" cy="6739627"/>
          </a:xfrm>
          <a:custGeom>
            <a:avLst/>
            <a:gdLst/>
            <a:ahLst/>
            <a:cxnLst/>
            <a:rect l="l" t="t" r="r" b="b"/>
            <a:pathLst>
              <a:path w="5674397" h="6739627">
                <a:moveTo>
                  <a:pt x="0" y="0"/>
                </a:moveTo>
                <a:lnTo>
                  <a:pt x="5674397" y="0"/>
                </a:lnTo>
                <a:lnTo>
                  <a:pt x="5674397" y="6739627"/>
                </a:lnTo>
                <a:lnTo>
                  <a:pt x="0" y="6739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562189" y="3547197"/>
            <a:ext cx="11301259" cy="3192606"/>
          </a:xfrm>
          <a:custGeom>
            <a:avLst/>
            <a:gdLst/>
            <a:ahLst/>
            <a:cxnLst/>
            <a:rect l="l" t="t" r="r" b="b"/>
            <a:pathLst>
              <a:path w="11301259" h="3192606">
                <a:moveTo>
                  <a:pt x="0" y="0"/>
                </a:moveTo>
                <a:lnTo>
                  <a:pt x="11301259" y="0"/>
                </a:lnTo>
                <a:lnTo>
                  <a:pt x="11301259" y="3192606"/>
                </a:lnTo>
                <a:lnTo>
                  <a:pt x="0" y="3192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71600" y="409575"/>
            <a:ext cx="6419850" cy="226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79"/>
              </a:lnSpc>
            </a:pPr>
            <a:r>
              <a:rPr lang="en-US" sz="7999" b="1" spc="-23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Bancos de dados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816953">
            <a:off x="-648487" y="-3801280"/>
            <a:ext cx="17847509" cy="6035808"/>
          </a:xfrm>
          <a:custGeom>
            <a:avLst/>
            <a:gdLst/>
            <a:ahLst/>
            <a:cxnLst/>
            <a:rect l="l" t="t" r="r" b="b"/>
            <a:pathLst>
              <a:path w="17847509" h="6035808">
                <a:moveTo>
                  <a:pt x="0" y="0"/>
                </a:moveTo>
                <a:lnTo>
                  <a:pt x="17847509" y="0"/>
                </a:lnTo>
                <a:lnTo>
                  <a:pt x="17847509" y="6035808"/>
                </a:lnTo>
                <a:lnTo>
                  <a:pt x="0" y="6035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9816953">
            <a:off x="2345916" y="9738000"/>
            <a:ext cx="19036434" cy="6437888"/>
          </a:xfrm>
          <a:custGeom>
            <a:avLst/>
            <a:gdLst/>
            <a:ahLst/>
            <a:cxnLst/>
            <a:rect l="l" t="t" r="r" b="b"/>
            <a:pathLst>
              <a:path w="19036434" h="6437888">
                <a:moveTo>
                  <a:pt x="0" y="0"/>
                </a:moveTo>
                <a:lnTo>
                  <a:pt x="19036434" y="0"/>
                </a:lnTo>
                <a:lnTo>
                  <a:pt x="19036434" y="6437887"/>
                </a:lnTo>
                <a:lnTo>
                  <a:pt x="0" y="6437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642343" y="7183858"/>
            <a:ext cx="616957" cy="2074442"/>
            <a:chOff x="0" y="0"/>
            <a:chExt cx="822610" cy="2765923"/>
          </a:xfrm>
        </p:grpSpPr>
        <p:sp>
          <p:nvSpPr>
            <p:cNvPr id="5" name="AutoShape 5"/>
            <p:cNvSpPr/>
            <p:nvPr/>
          </p:nvSpPr>
          <p:spPr>
            <a:xfrm>
              <a:off x="759110" y="0"/>
              <a:ext cx="63500" cy="1767642"/>
            </a:xfrm>
            <a:prstGeom prst="rect">
              <a:avLst/>
            </a:prstGeom>
            <a:solidFill>
              <a:srgbClr val="57FFD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2310295"/>
              <a:ext cx="822610" cy="45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2663"/>
                </a:lnSpc>
              </a:pPr>
              <a:r>
                <a:rPr lang="en-US" sz="2399" b="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06</a:t>
              </a:r>
            </a:p>
          </p:txBody>
        </p:sp>
      </p:grpSp>
      <p:pic>
        <p:nvPicPr>
          <p:cNvPr id="7" name="Picture 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6263069" y="2824068"/>
            <a:ext cx="12024931" cy="6764023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504825" y="1285875"/>
            <a:ext cx="6908152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0"/>
              </a:lnSpc>
            </a:pPr>
            <a:r>
              <a:rPr lang="en-US" sz="8000" spc="-160">
                <a:solidFill>
                  <a:srgbClr val="FFFFFF"/>
                </a:solidFill>
                <a:latin typeface="HK Grotesk Light"/>
                <a:ea typeface="HK Grotesk Light"/>
                <a:cs typeface="HK Grotesk Light"/>
                <a:sym typeface="HK Grotesk Light"/>
              </a:rPr>
              <a:t>Funcionalidades Apresentadas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4825" y="9607141"/>
            <a:ext cx="4133850" cy="33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3"/>
              </a:lnSpc>
            </a:pPr>
            <a:r>
              <a:rPr lang="en-US" sz="2399" b="1">
                <a:solidFill>
                  <a:srgbClr val="57FFD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CONTROLE EPI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04825" y="4572000"/>
            <a:ext cx="5395167" cy="262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4137" lvl="1" indent="-267069" algn="l">
              <a:lnSpc>
                <a:spcPts val="3463"/>
              </a:lnSpc>
              <a:buFont typeface="Arial"/>
              <a:buChar char="•"/>
            </a:pPr>
            <a:r>
              <a:rPr lang="en-US" sz="2474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Gestão de colaboradores</a:t>
            </a:r>
          </a:p>
          <a:p>
            <a:pPr marL="534137" lvl="1" indent="-267069" algn="l">
              <a:lnSpc>
                <a:spcPts val="3463"/>
              </a:lnSpc>
              <a:buFont typeface="Arial"/>
              <a:buChar char="•"/>
            </a:pPr>
            <a:r>
              <a:rPr lang="en-US" sz="2474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Gestão de equipamentos</a:t>
            </a:r>
          </a:p>
          <a:p>
            <a:pPr marL="534137" lvl="1" indent="-267069" algn="l">
              <a:lnSpc>
                <a:spcPts val="3463"/>
              </a:lnSpc>
              <a:buFont typeface="Arial"/>
              <a:buChar char="•"/>
            </a:pPr>
            <a:r>
              <a:rPr lang="en-US" sz="2474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Registro de empréstimos</a:t>
            </a:r>
          </a:p>
          <a:p>
            <a:pPr marL="534137" lvl="1" indent="-267069" algn="l">
              <a:lnSpc>
                <a:spcPts val="3463"/>
              </a:lnSpc>
              <a:buFont typeface="Arial"/>
              <a:buChar char="•"/>
            </a:pPr>
            <a:r>
              <a:rPr lang="en-US" sz="2474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Relatórios com filtros AND</a:t>
            </a:r>
          </a:p>
          <a:p>
            <a:pPr marL="534137" lvl="1" indent="-267069" algn="l">
              <a:lnSpc>
                <a:spcPts val="3463"/>
              </a:lnSpc>
              <a:buFont typeface="Arial"/>
              <a:buChar char="•"/>
            </a:pPr>
            <a:r>
              <a:rPr lang="en-US" sz="2474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Controle de status</a:t>
            </a:r>
          </a:p>
          <a:p>
            <a:pPr marL="534137" lvl="1" indent="-267069" algn="l">
              <a:lnSpc>
                <a:spcPts val="3463"/>
              </a:lnSpc>
              <a:buFont typeface="Arial"/>
              <a:buChar char="•"/>
            </a:pPr>
            <a:r>
              <a:rPr lang="en-US" sz="2474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Dashboard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627308">
            <a:off x="5445209" y="7487829"/>
            <a:ext cx="17016201" cy="6180151"/>
          </a:xfrm>
          <a:custGeom>
            <a:avLst/>
            <a:gdLst/>
            <a:ahLst/>
            <a:cxnLst/>
            <a:rect l="l" t="t" r="r" b="b"/>
            <a:pathLst>
              <a:path w="17016201" h="6180151">
                <a:moveTo>
                  <a:pt x="0" y="0"/>
                </a:moveTo>
                <a:lnTo>
                  <a:pt x="17016201" y="0"/>
                </a:lnTo>
                <a:lnTo>
                  <a:pt x="17016201" y="6180152"/>
                </a:lnTo>
                <a:lnTo>
                  <a:pt x="0" y="6180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50534" y="3777461"/>
            <a:ext cx="4112865" cy="165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Personalizar</PresentationFormat>
  <Paragraphs>44</Paragraphs>
  <Slides>9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Open Sans Bold</vt:lpstr>
      <vt:lpstr>Arial Bold</vt:lpstr>
      <vt:lpstr>HK Grotesk Bold</vt:lpstr>
      <vt:lpstr>HK Grotesk Light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Controle EPi’s</dc:title>
  <cp:lastModifiedBy>GUILHERME AARON FERREIRA DE CARVALHO</cp:lastModifiedBy>
  <cp:revision>2</cp:revision>
  <dcterms:created xsi:type="dcterms:W3CDTF">2006-08-16T00:00:00Z</dcterms:created>
  <dcterms:modified xsi:type="dcterms:W3CDTF">2025-09-27T15:13:12Z</dcterms:modified>
  <dc:identifier>DAG0LN2njz4</dc:identifier>
</cp:coreProperties>
</file>